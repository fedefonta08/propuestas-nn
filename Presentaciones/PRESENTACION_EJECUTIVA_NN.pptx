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62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GESTIÓN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PUNTO NARANJA XÀTIVA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Federico Fontanals Serra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Dinamizador · Nationale-Nederlanden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572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Reunión con Antonio Morote y Ricardo Montaner
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Lunes 21 de abril 2026 · 9:30h · Forn del Pla, Xàtiva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MISIÓN 2026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3657600" cy="210312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🎯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554480" y="1371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PVM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10.291 puntos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4846320" y="1188720"/>
            <a:ext cx="3657600" cy="210312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👥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760720" y="1371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EQUIPO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029200" y="19202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4-5 agentes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sept 2026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40080" y="36576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actual: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41148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Mes 2 de actividad (entrada marzo 2026)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44348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1 agente operativo: Rosiane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47548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Sistema de gestión construido y documentado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50749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Radar Comercial NN conectado con Entre Nosotros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PROPUESTA: LUNES DESPEGUE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Comparativa de modelos de seguimiento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931920" cy="347472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459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DESPACHO DIARIO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 8:30h - 9:30h (1h/día)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5 horas/semana totales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0175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Ventaja: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 diario constante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6576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Inconveniente: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39319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fricción con 1-2 agentes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Dispersión de tiempo productivo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1463040"/>
            <a:ext cx="3931920" cy="3474720"/>
          </a:xfrm>
          <a:prstGeom prst="rect">
            <a:avLst/>
          </a:prstGeom>
          <a:solidFill>
            <a:srgbClr val="FF6200"/>
          </a:solidFill>
          <a:ln w="38100">
            <a:solidFill>
              <a:srgbClr val="CC4E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6459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LUNES DESPEGUE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937760" y="21945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 8:00h - 10:00h (2h lunes)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37760" y="25603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2h semana + seguimiento ligero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937760" y="30175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Ventajas: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937760" y="33832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Alto impacto concentrado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367588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Tiempo para recruiting (7h/sem)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396849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Tiempo para producción propia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426110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Basado en método María José (Paterna)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LUNES DESPEGUE (2 HORAS)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👋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280160" y="1143000"/>
            <a:ext cx="548640" cy="548640"/>
          </a:xfrm>
          <a:prstGeom prst="rect">
            <a:avLst/>
          </a:prstGeom>
          <a:solidFill>
            <a:srgbClr val="FF6200"/>
          </a:solidFill>
          <a:ln/>
        </p:spPr>
      </p:sp>
      <p:sp>
        <p:nvSpPr>
          <p:cNvPr id="5" name="Text 3"/>
          <p:cNvSpPr/>
          <p:nvPr/>
        </p:nvSpPr>
        <p:spPr>
          <a:xfrm>
            <a:off x="1280160" y="11887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011680" y="11887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Bienvenida y contexto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011680" y="150876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Frase motivacional + logros semana anterior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0" y="1280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📋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1280160" y="1920240"/>
            <a:ext cx="548640" cy="548640"/>
          </a:xfrm>
          <a:prstGeom prst="rect">
            <a:avLst/>
          </a:prstGeom>
          <a:solidFill>
            <a:srgbClr val="FF6200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19659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011680" y="1965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 Entre Nosotros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011680" y="22860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campañas más importantes de la semana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0" y="2057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008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📊</a:t>
            </a:r>
            <a:endParaRPr lang="en-US" sz="3600" dirty="0"/>
          </a:p>
        </p:txBody>
      </p:sp>
      <p:sp>
        <p:nvSpPr>
          <p:cNvPr id="16" name="Shape 14"/>
          <p:cNvSpPr/>
          <p:nvPr/>
        </p:nvSpPr>
        <p:spPr>
          <a:xfrm>
            <a:off x="1280160" y="2697480"/>
            <a:ext cx="548640" cy="548640"/>
          </a:xfrm>
          <a:prstGeom prst="rect">
            <a:avLst/>
          </a:prstGeom>
          <a:solidFill>
            <a:srgbClr val="FF6200"/>
          </a:solidFill>
          <a:ln/>
        </p:spPr>
      </p:sp>
      <p:sp>
        <p:nvSpPr>
          <p:cNvPr id="17" name="Text 15"/>
          <p:cNvSpPr/>
          <p:nvPr/>
        </p:nvSpPr>
        <p:spPr>
          <a:xfrm>
            <a:off x="1280160" y="27432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2011680" y="27432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números individuales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011680" y="306324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Llamadas, reuniones, operaciones por agente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0" y="2834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4008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🎯</a:t>
            </a:r>
            <a:endParaRPr lang="en-US" sz="3600" dirty="0"/>
          </a:p>
        </p:txBody>
      </p:sp>
      <p:sp>
        <p:nvSpPr>
          <p:cNvPr id="22" name="Shape 20"/>
          <p:cNvSpPr/>
          <p:nvPr/>
        </p:nvSpPr>
        <p:spPr>
          <a:xfrm>
            <a:off x="1280160" y="3474720"/>
            <a:ext cx="548640" cy="548640"/>
          </a:xfrm>
          <a:prstGeom prst="rect">
            <a:avLst/>
          </a:prstGeom>
          <a:solidFill>
            <a:srgbClr val="FF6200"/>
          </a:solidFill>
          <a:ln/>
        </p:spPr>
      </p:sp>
      <p:sp>
        <p:nvSpPr>
          <p:cNvPr id="23" name="Text 21"/>
          <p:cNvSpPr/>
          <p:nvPr/>
        </p:nvSpPr>
        <p:spPr>
          <a:xfrm>
            <a:off x="1280160" y="3520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2011680" y="35204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 semana + recruiting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2011680" y="384048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acción concreta + cultura de referidos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0" y="3611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4008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🔥</a:t>
            </a:r>
            <a:endParaRPr lang="en-US" sz="3600" dirty="0"/>
          </a:p>
        </p:txBody>
      </p:sp>
      <p:sp>
        <p:nvSpPr>
          <p:cNvPr id="28" name="Shape 26"/>
          <p:cNvSpPr/>
          <p:nvPr/>
        </p:nvSpPr>
        <p:spPr>
          <a:xfrm>
            <a:off x="1280160" y="4251960"/>
            <a:ext cx="548640" cy="548640"/>
          </a:xfrm>
          <a:prstGeom prst="rect">
            <a:avLst/>
          </a:prstGeom>
          <a:solidFill>
            <a:srgbClr val="FF6200"/>
          </a:solidFill>
          <a:ln/>
        </p:spPr>
      </p:sp>
      <p:sp>
        <p:nvSpPr>
          <p:cNvPr id="29" name="Text 27"/>
          <p:cNvSpPr/>
          <p:nvPr/>
        </p:nvSpPr>
        <p:spPr>
          <a:xfrm>
            <a:off x="1280160" y="42976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2011680" y="42976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y motivación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2011680" y="461772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Recordatorio deadline + frase de cierre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400800" y="4389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40080" y="53035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19 minutos estructurados · Metodología probada en delegaciones de éxito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MARTES A VIERNES: SEGUIMIENTO ÁGIL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931920" cy="155448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508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 SEGUIMIENTO POR LLAMADAS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Llamadas rápidas según necesidad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Resolver bloqueos específicos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Sin reunión formal diaria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1371600"/>
            <a:ext cx="3931920" cy="155448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508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ACOMPAÑAMIENTO OPERACIONES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120640" y="19202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Visitas conjuntas cliente final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120640" y="21945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Apoyo en cierre de operaciones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20640" y="24688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Formación práctica en campo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200400"/>
            <a:ext cx="3931920" cy="155448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337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RECRUITING ACTIVO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37490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1-1.5 horas/día dedicadas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40233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Llamadas, reuniones, entrevistas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42976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Objetivo: 4-5 agentes sept 2026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46320" y="3200400"/>
            <a:ext cx="3931920" cy="155448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3337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 PRODUCCIÓN PROPIA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120640" y="37490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Resto del tiempo: campo comercial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120640" y="40233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Hasta consolidar equipo completo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120640" y="42976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Objetivo: 10.291 pts anuales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846320"/>
            <a:ext cx="8046720" cy="731520"/>
          </a:xfrm>
          <a:prstGeom prst="rect">
            <a:avLst/>
          </a:prstGeom>
          <a:solidFill>
            <a:srgbClr val="FF6200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498348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VIERNES TARDE: SEGUIMIENTO SEMANAL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31520" y="521208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Llamada rápida a cada agente: ¿Cómo vas con la acción de la semana? · Preparación próximo lunes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DISTRIBUCIÓN SEMANAL DE TIEMPO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3200400" y="1371600"/>
            <a:ext cx="2514600" cy="457200"/>
          </a:xfrm>
          <a:prstGeom prst="rect">
            <a:avLst/>
          </a:prstGeom>
          <a:solidFill>
            <a:srgbClr val="FF620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 propia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806440" y="14173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0" y="2011680"/>
            <a:ext cx="880110" cy="457200"/>
          </a:xfrm>
          <a:prstGeom prst="rect">
            <a:avLst/>
          </a:prstGeom>
          <a:solidFill>
            <a:srgbClr val="FF993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057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71950" y="205740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9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17.5%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00400" y="2651760"/>
            <a:ext cx="628650" cy="45720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697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Acompañamiento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920490" y="26974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12.5%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200400" y="3291840"/>
            <a:ext cx="502920" cy="457200"/>
          </a:xfrm>
          <a:prstGeom prst="rect">
            <a:avLst/>
          </a:prstGeom>
          <a:solidFill>
            <a:srgbClr val="00A65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337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Formación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94760" y="333756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200400" y="3931920"/>
            <a:ext cx="251460" cy="457200"/>
          </a:xfrm>
          <a:prstGeom prst="rect">
            <a:avLst/>
          </a:prstGeom>
          <a:solidFill>
            <a:srgbClr val="CC00CC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977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Lunes DESPEGUE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543300" y="39776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C0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200400" y="4572000"/>
            <a:ext cx="251460" cy="457200"/>
          </a:xfrm>
          <a:prstGeom prst="rect">
            <a:avLst/>
          </a:prstGeom>
          <a:solidFill>
            <a:srgbClr val="6B6B6B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617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543300" y="46177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0080" y="52120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40 horas/semana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LUNES DESPEGUE ES MEJOR?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la fase de construcción (1-5 agentes)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48640" cy="548640"/>
          </a:xfrm>
          <a:prstGeom prst="rect">
            <a:avLst/>
          </a:prstGeom>
          <a:solidFill>
            <a:srgbClr val="FF620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371600" y="146304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fricción con pocos agentes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755648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1-2 agentes, despacho diario 1h es excesivo. Lunes DESPEGUE concentra el impacto.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194560"/>
            <a:ext cx="548640" cy="548640"/>
          </a:xfrm>
          <a:prstGeom prst="rect">
            <a:avLst/>
          </a:prstGeom>
          <a:solidFill>
            <a:srgbClr val="FF620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2402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371600" y="224028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para recruiting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2532888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7h/semana dedicadas a buscar, llamar y entrevistar candidatos. Sin esto, no llego a 4-5 agentes en sept.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2971800"/>
            <a:ext cx="548640" cy="548640"/>
          </a:xfrm>
          <a:prstGeom prst="rect">
            <a:avLst/>
          </a:prstGeom>
          <a:solidFill>
            <a:srgbClr val="FF620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0175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371600" y="301752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 propia necesaria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3310128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consolidar equipo, yo debo generar puntos. Despacho diario me resta 5h de campo/semana.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749040"/>
            <a:ext cx="548640" cy="548640"/>
          </a:xfrm>
          <a:prstGeom prst="rect">
            <a:avLst/>
          </a:prstGeom>
          <a:solidFill>
            <a:srgbClr val="FF620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7947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371600" y="379476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Basado en método de éxito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4087368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María José (Paterna) hace despacho diario con 15+ agentes veteranos. Yo estoy construyendo desde cero.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4526280"/>
            <a:ext cx="548640" cy="548640"/>
          </a:xfrm>
          <a:prstGeom prst="rect">
            <a:avLst/>
          </a:prstGeom>
          <a:solidFill>
            <a:srgbClr val="FF6200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5720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1371600" y="457200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Escalable a medida que crezco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71600" y="4864608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tenga 4-5 agentes, puedo añadir despacho miércoles (2h+2h). Estructura crece conmigo.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GESTIÓN: PLANTILLA AGENTE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4023360" cy="411480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PLANTILLA_AGENTE_NN_V2.xlsx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agente rellena semanalmente: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📖 Instrucciones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🎯 Mi Perfil (Role Model / Viaje / Mínimo Ingresos)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788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👤 Mis Datos (objetivo mensual, acumulado)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1089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📞 Mi Actividad (llamadas, reuniones, cierres)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429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🔥 Mis Operaciones (pipeline previsto)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4114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Deadline: Lunes 8:30h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44348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federico.fontanals@nnespana.com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1188720"/>
            <a:ext cx="3840480" cy="4114800"/>
          </a:xfrm>
          <a:prstGeom prst="rect">
            <a:avLst/>
          </a:prstGeom>
          <a:solidFill>
            <a:srgbClr val="FF6200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371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🚦 SISTEMA DE PERFILES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937760" y="17830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María José (Paterna):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21945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ROLE MODEL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937760" y="248716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que aspiran a lo más alto.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ambiciosos.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31089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✈️  VIAJE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37760" y="340156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Motivados por incentivos de equipo.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colaborativo.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40233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💶  MÍNIMO INGRESOS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37760" y="431596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Buscan estabilidad.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~2.500€/mes en comisiones.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37760" y="484632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Tracking semáforo (300€ bonificación)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Cultura de referidos (Ana Muñoz)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DINAMIZADOR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cuadro de mando personal — actualizado cada lunes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2468880" cy="118872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🎯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325880" y="1645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2026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0116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10.291 pts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383280" y="1463040"/>
            <a:ext cx="2468880" cy="118872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📈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069080" y="1645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ACUMULADO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520440" y="20116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[Actualizar]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126480" y="1463040"/>
            <a:ext cx="2468880" cy="118872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13" name="Text 11"/>
          <p:cNvSpPr/>
          <p:nvPr/>
        </p:nvSpPr>
        <p:spPr>
          <a:xfrm>
            <a:off x="626364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👥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812280" y="1645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63640" y="20116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(Rosiane)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40080" y="2926080"/>
            <a:ext cx="3840480" cy="128016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0632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DESGLOSE DE PRODUCCIÓN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34290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de mi producción directa: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926080" y="3429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[Número]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37490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de mis agentes: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926080" y="37490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[Número]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54880" y="2926080"/>
            <a:ext cx="3840480" cy="265176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30632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ACTIVIDAD ESTA SEMANA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937760" y="34747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Llamadas realizadas: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040880" y="347472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[Número]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37760" y="39776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Reuniones mantenidas: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040880" y="397764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[Número]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37760" y="44805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 cerradas: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040880" y="448056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[Número]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937760" y="49834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generados: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040880" y="498348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[Número]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COMERCIAL NN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automática con Entre Nosotros semanal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347472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544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SISTEMA AUTOMÁTICO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1️⃣ Cada jueves llega correo 'Entre Nosotros' de NN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30428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2️⃣ Lo reenvío a Gmail → Claude lo lee automáticamente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596896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3️⃣ Claude actualiza Google Sheets 'Radar Comercial NN':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88950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• 🟠 Campañas Activas (qué vender esta semana)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182112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• 📦 Novedades de Producto (cambios importantes)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3474720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• 📋 Historial Entre Nosotros (registro semanal)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3767328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4️⃣ Claude me da resumen + 3 acciones concretas de la semana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4059936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5️⃣ Uso esa información en el Lunes DESPEGUE con agentes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5029200"/>
            <a:ext cx="8046720" cy="548640"/>
          </a:xfrm>
          <a:prstGeom prst="rect">
            <a:avLst/>
          </a:prstGeom>
          <a:solidFill>
            <a:srgbClr val="00A651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51663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Operativo desde Entre Nosotros #558 (17/04/2026) · Última actualización: 19/04/2026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AUTOMATIZACIÓN: ENVÍO SEMANAL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Google Apps conectado al Radar Comercial NN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371600" y="1463040"/>
            <a:ext cx="6400800" cy="640080"/>
          </a:xfrm>
          <a:prstGeom prst="rect">
            <a:avLst/>
          </a:prstGeom>
          <a:solidFill>
            <a:srgbClr val="FF6200"/>
          </a:solidFill>
          <a:ln/>
        </p:spPr>
      </p:sp>
      <p:sp>
        <p:nvSpPr>
          <p:cNvPr id="5" name="Text 3"/>
          <p:cNvSpPr/>
          <p:nvPr/>
        </p:nvSpPr>
        <p:spPr>
          <a:xfrm>
            <a:off x="1554480" y="160020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 CADA DOMINGO 18:00H (AUTOMÁTICO)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2377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737360" y="242316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el Radar Comercial NN (campañas activas + novedades)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28346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🔥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737360" y="288036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 campañas urgentes (vencimiento &lt;15 días)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32918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🎯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737360" y="333756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 campañas relevantes según segmento de cada agente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37490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📧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1737360" y="379476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Envía email HTML personalizado a cada agente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42062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👥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1737360" y="425196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Incluye: campañas + cultura de referidos + deadline lunes 8:30h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4663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✅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1737360" y="4709160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 envía resumen confirmando envío a todos los agentes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371600" y="5120640"/>
            <a:ext cx="6400800" cy="457200"/>
          </a:xfrm>
          <a:prstGeom prst="rect">
            <a:avLst/>
          </a:prstGeom>
          <a:solidFill>
            <a:srgbClr val="00A651"/>
          </a:solidFill>
          <a:ln/>
        </p:spPr>
      </p:sp>
      <p:sp>
        <p:nvSpPr>
          <p:cNvPr id="19" name="Text 17"/>
          <p:cNvSpPr/>
          <p:nvPr/>
        </p:nvSpPr>
        <p:spPr>
          <a:xfrm>
            <a:off x="1554480" y="521208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Script operativo · Agentes reciben recordatorio automático cada domingo tarde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RECRUITING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Ana Muñoz (Cullera): 15 agentes incorporados en 3 meses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931920" cy="210312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6459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RECLUTAMIENTO INTENSIVO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1-1.5 horas/día dedicadas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Canales omnicanal: Facebook, Instagram, LinkedIn, WhatsApp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Contacto directo con asociaciones y empresas locales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0632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Meta: 4-5 agentes antes septiembre 2026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463040"/>
            <a:ext cx="3931920" cy="2103120"/>
          </a:xfrm>
          <a:prstGeom prst="rect">
            <a:avLst/>
          </a:prstGeom>
          <a:solidFill>
            <a:srgbClr val="FF6200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6459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CULTURA DE REFERIDOS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846320" y="210312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'Minuto de Oro' de Ana Muñoz: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237744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cada reunión con cliente, dedicar 1 minuto a mencionar que estamos ampliando la red.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Preguntar: ¿Conoces a alguien interesado en unirse?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8046720" cy="164592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9319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TRACKING RECRUITING (DASHBOARD DINAMIZADOR)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2960" y="44348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Candidatos contactados esta semana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4754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[Número]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474720" y="44348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Entrevistas programadas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74720" y="4754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[Número]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126480" y="44348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Incorporaciones previstas mes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26480" y="47548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[Número]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FORMACIÓN Y VENTAJA COMPETITIVA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931920" cy="201168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MINI-FORMACIONES INTERNAS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 cortas (30-45 min) sobre: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Nuevo producto de la semana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39572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Objeciones más frecuentes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68833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Casos de éxito del equipo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298094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Técnicas de cierre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3931920" cy="4206240"/>
          </a:xfrm>
          <a:prstGeom prst="rect">
            <a:avLst/>
          </a:prstGeom>
          <a:solidFill>
            <a:srgbClr val="FF6200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3716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VENTAJA COMPETITIVA: MIS AUTOMATIZACIONES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846320" y="19202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desarrollado herramientas que facilitan enormemente el trabajo de mis agentes: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25146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Panel DESPEGUE: herramientas y guías en un solo clic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30175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Sistema de llamadas v4: contacto pre-seleccionado, WhatsApp automático, seguimiento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35204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Guías comerciales producto por producto (HTML, funcionan offline)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40233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Radar Comercial NN: campañas activas actualizadas semanalmente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46320" y="4572000"/>
            <a:ext cx="3566160" cy="640080"/>
          </a:xfrm>
          <a:prstGeom prst="rect">
            <a:avLst/>
          </a:prstGeom>
          <a:solidFill>
            <a:srgbClr val="CC4E00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47091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 agentes NO estudian de cero.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Tienen el método listo para aplicar desde día 1.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Y SEGUIMIENTO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8046720" cy="228600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MÉTRICAS SEMANALES (cada lunes DESPEGUE)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agentes que envían plantilla antes 8:30h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35040" y="1874520"/>
            <a:ext cx="2286000" cy="320040"/>
          </a:xfrm>
          <a:prstGeom prst="rect">
            <a:avLst/>
          </a:prstGeom>
          <a:solidFill>
            <a:srgbClr val="FF6200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0" y="1892808"/>
            <a:ext cx="21031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agentes que ejecutan acción de la semana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35040" y="2286000"/>
            <a:ext cx="2286000" cy="320040"/>
          </a:xfrm>
          <a:prstGeom prst="rect">
            <a:avLst/>
          </a:prstGeom>
          <a:solidFill>
            <a:srgbClr val="FF6200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2304288"/>
            <a:ext cx="21031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&gt;80%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26974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Nº operaciones cerradas en la semana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35040" y="2697480"/>
            <a:ext cx="2286000" cy="320040"/>
          </a:xfrm>
          <a:prstGeom prst="rect">
            <a:avLst/>
          </a:prstGeom>
          <a:solidFill>
            <a:srgbClr val="FF6200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2715768"/>
            <a:ext cx="21031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31089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Nº candidatos detectados por el equipo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35040" y="3108960"/>
            <a:ext cx="2286000" cy="320040"/>
          </a:xfrm>
          <a:prstGeom prst="rect">
            <a:avLst/>
          </a:prstGeom>
          <a:solidFill>
            <a:srgbClr val="FF6200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3127248"/>
            <a:ext cx="210312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2-3/mes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3657600"/>
            <a:ext cx="8046720" cy="1828800"/>
          </a:xfrm>
          <a:prstGeom prst="rect">
            <a:avLst/>
          </a:prstGeom>
          <a:solidFill>
            <a:srgbClr val="00A651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8404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🚦 SEGUIMIENTO SEMÁFORO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22960" y="4343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META: Nota semáforo VERDE &gt;70% del equipo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2960" y="4709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300€ bonificación/agente al final del año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754880" y="43434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semanal en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Plantilla + Dashboard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TIMELINE: DE 1 A 5 AGENTES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Proyección de incorporaciones hasta septiembre 2026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2011680" cy="457200"/>
          </a:xfrm>
          <a:prstGeom prst="rect">
            <a:avLst/>
          </a:prstGeom>
          <a:solidFill>
            <a:srgbClr val="00A65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08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MARZO 2026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834640" y="15087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Incorporación Rosiane (agente #1)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32320" y="1463040"/>
            <a:ext cx="1463040" cy="45720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8" name="Text 6"/>
          <p:cNvSpPr/>
          <p:nvPr/>
        </p:nvSpPr>
        <p:spPr>
          <a:xfrm>
            <a:off x="7223760" y="15087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6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HECHO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103120"/>
            <a:ext cx="2011680" cy="457200"/>
          </a:xfrm>
          <a:prstGeom prst="rect">
            <a:avLst/>
          </a:prstGeom>
          <a:solidFill>
            <a:srgbClr val="FF6200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148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ABRIL-MAYO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834640" y="2148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Recruiting intensivo + consolidación Rosiane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132320" y="2103120"/>
            <a:ext cx="1463040" cy="45720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13" name="Text 11"/>
          <p:cNvSpPr/>
          <p:nvPr/>
        </p:nvSpPr>
        <p:spPr>
          <a:xfrm>
            <a:off x="7223760" y="21488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CURSO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2743200"/>
            <a:ext cx="2011680" cy="45720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788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 2026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834640" y="27889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Objetivo: Agente #2 incorporado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132320" y="2743200"/>
            <a:ext cx="1463040" cy="45720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18" name="Text 16"/>
          <p:cNvSpPr/>
          <p:nvPr/>
        </p:nvSpPr>
        <p:spPr>
          <a:xfrm>
            <a:off x="7223760" y="27889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PREVISTO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383280"/>
            <a:ext cx="2011680" cy="45720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429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JULIO 2026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834640" y="3429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Objetivo: Agente #3 incorporado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132320" y="3383280"/>
            <a:ext cx="1463040" cy="45720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23" name="Text 21"/>
          <p:cNvSpPr/>
          <p:nvPr/>
        </p:nvSpPr>
        <p:spPr>
          <a:xfrm>
            <a:off x="7223760" y="34290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PREVISTO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4023360"/>
            <a:ext cx="2011680" cy="45720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069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AGOSTO 2026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834640" y="40690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Objetivo: Agente #4 incorporado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7132320" y="4023360"/>
            <a:ext cx="1463040" cy="45720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28" name="Text 26"/>
          <p:cNvSpPr/>
          <p:nvPr/>
        </p:nvSpPr>
        <p:spPr>
          <a:xfrm>
            <a:off x="7223760" y="40690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PREVISTO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" y="4663440"/>
            <a:ext cx="2011680" cy="457200"/>
          </a:xfrm>
          <a:prstGeom prst="rect">
            <a:avLst/>
          </a:prstGeom>
          <a:solidFill>
            <a:srgbClr val="FF6200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4709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SEPTIEMBRE 2026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2834640" y="4709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META: 4-5 agentes operativos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7132320" y="4663440"/>
            <a:ext cx="1463040" cy="45720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33" name="Text 31"/>
          <p:cNvSpPr/>
          <p:nvPr/>
        </p:nvSpPr>
        <p:spPr>
          <a:xfrm>
            <a:off x="7223760" y="47091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FINAL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" y="52120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Estrategia: Incorporación progresiva con consolidación. No acumular agentes sin sistema.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NECESITO DE VOSOTROS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8046720" cy="2194560"/>
          </a:xfrm>
          <a:prstGeom prst="rect">
            <a:avLst/>
          </a:prstGeom>
          <a:solidFill>
            <a:srgbClr val="E5E5E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🚧 BLOQUEOS ACTUALES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365760" cy="36576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1874520"/>
            <a:ext cx="7040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hipotecas NN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2075688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Previsto ~15 mayo. Necesario para activar campaña hipotecas S2 Constructor.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377440"/>
            <a:ext cx="365760" cy="36576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71600" y="2377440"/>
            <a:ext cx="7040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Detalles técnicos Contigo Senior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71600" y="2578608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Ajustes de sostenibilidad 15/04. Necesito ficha actualizada de Antonio antes de visitas senior.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2880360"/>
            <a:ext cx="365760" cy="36576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880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71600" y="2880360"/>
            <a:ext cx="7040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Tipologías afectadas hipotecas ING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71600" y="3081528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Actualización precios 15/04. Necesito saber qué modalidades antes de cotizar.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566160"/>
            <a:ext cx="8046720" cy="2011680"/>
          </a:xfrm>
          <a:prstGeom prst="rect">
            <a:avLst/>
          </a:prstGeom>
          <a:solidFill>
            <a:srgbClr val="00A651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7490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LO QUE FUNCIONA BIEN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22960" y="420624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Conexión semanal con Antonio (reporte funcionando)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448056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Radar Comercial NN (Entre Nosotros procesado automáticamente)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475488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Rosiane operativa y generando puntos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502920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Sistema de gestión construido y documentado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" y="530352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Herramientas tecnológicas desarrolladas (ventaja competitiva)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931920" cy="1828800"/>
          </a:xfrm>
          <a:prstGeom prst="rect">
            <a:avLst/>
          </a:prstGeom>
          <a:solidFill>
            <a:srgbClr val="FF620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173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SEMANA (21-25 abril)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Primer Lunes DESPEGUE con Rosiane (lunes 8:00h)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Cerrar pipeline Ahorro+Salud (vence 30/04)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Feedback firma biométrica a Antonio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280160"/>
            <a:ext cx="3931920" cy="1828800"/>
          </a:xfrm>
          <a:prstGeom prst="rect">
            <a:avLst/>
          </a:prstGeom>
          <a:solidFill>
            <a:srgbClr val="FF9933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4173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 2026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120640" y="18288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Curso hipotecas NN (~15 mayo)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120640" y="21488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Activar campaña hipotecas S2 Constructor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20640" y="24688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Intensificar recruiting: objetivo 1-2 candidatos en pipeline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383280"/>
            <a:ext cx="3931920" cy="182880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5204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 2026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39319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Incorporación agente #2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42519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Consolidar sistema Lunes DESPEGUE con 2 agentes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45720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Revisión KPIs primer trimestre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46320" y="3383280"/>
            <a:ext cx="3931920" cy="1828800"/>
          </a:xfrm>
          <a:prstGeom prst="rect">
            <a:avLst/>
          </a:prstGeom>
          <a:solidFill>
            <a:srgbClr val="00A651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35204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JULIO-SEPTIEMBRE 2026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120640" y="39319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Incorporaciones progresivas agentes #3, #4, #5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20640" y="42519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Escalar sistema de gestión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20640" y="45720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Alcanzar meta 4-5 agentes operativos antes septiembre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62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LISTO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EN CONSTRUCCIÓN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CLARO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10.291 puntos · 4-5 agentes · Septiembre 2026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Federico Fontanals Serra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5120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Dinamizador · Punto Naranja Xàtiva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Nationale-Nederlanden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Federico Fontanals Serra - Nationale-Nederlanden</dc:creator>
  <cp:lastModifiedBy>Federico Fontanals Serra - Nationale-Nederlanden</cp:lastModifiedBy>
  <cp:revision>1</cp:revision>
  <dcterms:created xsi:type="dcterms:W3CDTF">2026-04-19T18:21:29Z</dcterms:created>
  <dcterms:modified xsi:type="dcterms:W3CDTF">2026-04-19T18:21:29Z</dcterms:modified>
</cp:coreProperties>
</file>